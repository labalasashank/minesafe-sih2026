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23FE8-6879-4C1F-8DCD-DB4D4C8B3054}" v="28" dt="2026-09-19T06:30:40.35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53175"/>
            <a:ext cx="12182475" cy="495300"/>
          </a:xfrm>
          <a:custGeom>
            <a:avLst/>
            <a:gdLst/>
            <a:ahLst/>
            <a:cxnLst/>
            <a:rect l="l" t="t" r="r" b="b"/>
            <a:pathLst>
              <a:path w="12182475" h="495300">
                <a:moveTo>
                  <a:pt x="12182475" y="495300"/>
                </a:moveTo>
                <a:lnTo>
                  <a:pt x="0" y="495300"/>
                </a:lnTo>
                <a:lnTo>
                  <a:pt x="0" y="0"/>
                </a:lnTo>
                <a:lnTo>
                  <a:pt x="12182475" y="0"/>
                </a:lnTo>
                <a:lnTo>
                  <a:pt x="12182475" y="49530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3700" y="97135"/>
            <a:ext cx="7672070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925" y="2053431"/>
            <a:ext cx="10809605" cy="2389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26025" y="6245225"/>
            <a:ext cx="2379345" cy="56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46125" marR="5080" indent="-733425">
              <a:lnSpc>
                <a:spcPts val="2170"/>
              </a:lnSpc>
              <a:spcBef>
                <a:spcPts val="30"/>
              </a:spcBef>
            </a:pPr>
            <a:r>
              <a:rPr sz="1800" dirty="0"/>
              <a:t>@SIH</a:t>
            </a:r>
            <a:r>
              <a:rPr sz="1800" spc="-110" dirty="0"/>
              <a:t> </a:t>
            </a:r>
            <a:r>
              <a:rPr sz="1800" dirty="0"/>
              <a:t>Idea</a:t>
            </a:r>
            <a:r>
              <a:rPr sz="1800" spc="-110" dirty="0"/>
              <a:t> </a:t>
            </a:r>
            <a:r>
              <a:rPr sz="1800" spc="-45" dirty="0"/>
              <a:t>submission-</a:t>
            </a:r>
            <a:r>
              <a:rPr sz="1800" spc="-10" dirty="0"/>
              <a:t>Template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15700" y="6378574"/>
            <a:ext cx="217804" cy="29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‹#›</a:t>
            </a:fld>
            <a:endParaRPr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youtu.be/y41x_naGe0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GOyQf_GNT7Q?si=Qq0ZzeC9uPQhdhpv" TargetMode="External"/><Relationship Id="rId5" Type="http://schemas.openxmlformats.org/officeDocument/2006/relationships/hyperlink" Target="https://www.tandfonline.com/doi/full/10.1080/00224065.2024.2345255?utm_source=chatgpt.com" TargetMode="External"/><Relationship Id="rId4" Type="http://schemas.openxmlformats.org/officeDocument/2006/relationships/hyperlink" Target="https://www.cdc.gov/niosh/docs/mining/works/coversheet202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88860" y="1224756"/>
            <a:ext cx="4629150" cy="5153025"/>
            <a:chOff x="5648325" y="847725"/>
            <a:chExt cx="4629150" cy="5153025"/>
          </a:xfrm>
        </p:grpSpPr>
        <p:sp>
          <p:nvSpPr>
            <p:cNvPr id="3" name="object 3"/>
            <p:cNvSpPr/>
            <p:nvPr/>
          </p:nvSpPr>
          <p:spPr>
            <a:xfrm>
              <a:off x="5648325" y="847725"/>
              <a:ext cx="4629150" cy="5153025"/>
            </a:xfrm>
            <a:custGeom>
              <a:avLst/>
              <a:gdLst/>
              <a:ahLst/>
              <a:cxnLst/>
              <a:rect l="l" t="t" r="r" b="b"/>
              <a:pathLst>
                <a:path w="4629150" h="5153025">
                  <a:moveTo>
                    <a:pt x="3510964" y="5153025"/>
                  </a:moveTo>
                  <a:lnTo>
                    <a:pt x="1863485" y="5153025"/>
                  </a:lnTo>
                  <a:lnTo>
                    <a:pt x="1818482" y="5148469"/>
                  </a:lnTo>
                  <a:lnTo>
                    <a:pt x="1775347" y="5135135"/>
                  </a:lnTo>
                  <a:lnTo>
                    <a:pt x="1734640" y="5113518"/>
                  </a:lnTo>
                  <a:lnTo>
                    <a:pt x="1696920" y="5084117"/>
                  </a:lnTo>
                  <a:lnTo>
                    <a:pt x="1662748" y="5047426"/>
                  </a:lnTo>
                  <a:lnTo>
                    <a:pt x="1632684" y="5003944"/>
                  </a:lnTo>
                  <a:lnTo>
                    <a:pt x="1607289" y="4954168"/>
                  </a:lnTo>
                  <a:lnTo>
                    <a:pt x="785328" y="3055546"/>
                  </a:lnTo>
                  <a:lnTo>
                    <a:pt x="767814" y="3009734"/>
                  </a:lnTo>
                  <a:lnTo>
                    <a:pt x="755305" y="2961592"/>
                  </a:lnTo>
                  <a:lnTo>
                    <a:pt x="747799" y="2911895"/>
                  </a:lnTo>
                  <a:lnTo>
                    <a:pt x="745297" y="2861422"/>
                  </a:lnTo>
                  <a:lnTo>
                    <a:pt x="747799" y="2810949"/>
                  </a:lnTo>
                  <a:lnTo>
                    <a:pt x="755305" y="2761253"/>
                  </a:lnTo>
                  <a:lnTo>
                    <a:pt x="767814" y="2713111"/>
                  </a:lnTo>
                  <a:lnTo>
                    <a:pt x="785328" y="2667298"/>
                  </a:lnTo>
                  <a:lnTo>
                    <a:pt x="1116250" y="1902917"/>
                  </a:lnTo>
                  <a:lnTo>
                    <a:pt x="1115344" y="1902410"/>
                  </a:lnTo>
                  <a:lnTo>
                    <a:pt x="1079173" y="1859698"/>
                  </a:lnTo>
                  <a:lnTo>
                    <a:pt x="724759" y="1043913"/>
                  </a:lnTo>
                  <a:lnTo>
                    <a:pt x="712150" y="1004456"/>
                  </a:lnTo>
                  <a:lnTo>
                    <a:pt x="707948" y="962389"/>
                  </a:lnTo>
                  <a:lnTo>
                    <a:pt x="712150" y="920322"/>
                  </a:lnTo>
                  <a:lnTo>
                    <a:pt x="724793" y="880785"/>
                  </a:lnTo>
                  <a:lnTo>
                    <a:pt x="1069954" y="83514"/>
                  </a:lnTo>
                  <a:lnTo>
                    <a:pt x="1089917" y="48655"/>
                  </a:lnTo>
                  <a:lnTo>
                    <a:pt x="1144974" y="5779"/>
                  </a:lnTo>
                  <a:lnTo>
                    <a:pt x="1177546" y="0"/>
                  </a:lnTo>
                  <a:lnTo>
                    <a:pt x="1869428" y="0"/>
                  </a:lnTo>
                  <a:lnTo>
                    <a:pt x="1930882" y="22370"/>
                  </a:lnTo>
                  <a:lnTo>
                    <a:pt x="1975526" y="83514"/>
                  </a:lnTo>
                  <a:lnTo>
                    <a:pt x="1986695" y="109201"/>
                  </a:lnTo>
                  <a:lnTo>
                    <a:pt x="1216800" y="109201"/>
                  </a:lnTo>
                  <a:lnTo>
                    <a:pt x="1187924" y="114325"/>
                  </a:lnTo>
                  <a:lnTo>
                    <a:pt x="1139114" y="152335"/>
                  </a:lnTo>
                  <a:lnTo>
                    <a:pt x="815392" y="890114"/>
                  </a:lnTo>
                  <a:lnTo>
                    <a:pt x="800488" y="962389"/>
                  </a:lnTo>
                  <a:lnTo>
                    <a:pt x="804214" y="999683"/>
                  </a:lnTo>
                  <a:lnTo>
                    <a:pt x="1121417" y="1741539"/>
                  </a:lnTo>
                  <a:lnTo>
                    <a:pt x="1149849" y="1785106"/>
                  </a:lnTo>
                  <a:lnTo>
                    <a:pt x="1166313" y="1798351"/>
                  </a:lnTo>
                  <a:lnTo>
                    <a:pt x="1122787" y="1898888"/>
                  </a:lnTo>
                  <a:lnTo>
                    <a:pt x="1158040" y="1913980"/>
                  </a:lnTo>
                  <a:lnTo>
                    <a:pt x="1174615" y="1915448"/>
                  </a:lnTo>
                  <a:lnTo>
                    <a:pt x="4262215" y="1915448"/>
                  </a:lnTo>
                  <a:lnTo>
                    <a:pt x="4589119" y="2667298"/>
                  </a:lnTo>
                  <a:lnTo>
                    <a:pt x="4606632" y="2713111"/>
                  </a:lnTo>
                  <a:lnTo>
                    <a:pt x="4619142" y="2761253"/>
                  </a:lnTo>
                  <a:lnTo>
                    <a:pt x="4626648" y="2810949"/>
                  </a:lnTo>
                  <a:lnTo>
                    <a:pt x="4629150" y="2861422"/>
                  </a:lnTo>
                  <a:lnTo>
                    <a:pt x="4626648" y="2911895"/>
                  </a:lnTo>
                  <a:lnTo>
                    <a:pt x="4619142" y="2961592"/>
                  </a:lnTo>
                  <a:lnTo>
                    <a:pt x="4606632" y="3009734"/>
                  </a:lnTo>
                  <a:lnTo>
                    <a:pt x="4589119" y="3055546"/>
                  </a:lnTo>
                  <a:lnTo>
                    <a:pt x="3763601" y="4954168"/>
                  </a:lnTo>
                  <a:lnTo>
                    <a:pt x="3739336" y="5003944"/>
                  </a:lnTo>
                  <a:lnTo>
                    <a:pt x="3709781" y="5047426"/>
                  </a:lnTo>
                  <a:lnTo>
                    <a:pt x="3675744" y="5084117"/>
                  </a:lnTo>
                  <a:lnTo>
                    <a:pt x="3638034" y="5113518"/>
                  </a:lnTo>
                  <a:lnTo>
                    <a:pt x="3597462" y="5135135"/>
                  </a:lnTo>
                  <a:lnTo>
                    <a:pt x="3554835" y="5148469"/>
                  </a:lnTo>
                  <a:lnTo>
                    <a:pt x="3510964" y="5153025"/>
                  </a:lnTo>
                  <a:close/>
                </a:path>
                <a:path w="4629150" h="5153025">
                  <a:moveTo>
                    <a:pt x="2182488" y="559509"/>
                  </a:moveTo>
                  <a:lnTo>
                    <a:pt x="2087835" y="559509"/>
                  </a:lnTo>
                  <a:lnTo>
                    <a:pt x="1924234" y="183240"/>
                  </a:lnTo>
                  <a:lnTo>
                    <a:pt x="1907114" y="152335"/>
                  </a:lnTo>
                  <a:lnTo>
                    <a:pt x="1884655" y="129033"/>
                  </a:lnTo>
                  <a:lnTo>
                    <a:pt x="1858470" y="114325"/>
                  </a:lnTo>
                  <a:lnTo>
                    <a:pt x="1830173" y="109201"/>
                  </a:lnTo>
                  <a:lnTo>
                    <a:pt x="1986695" y="109201"/>
                  </a:lnTo>
                  <a:lnTo>
                    <a:pt x="2182488" y="559509"/>
                  </a:lnTo>
                  <a:close/>
                </a:path>
                <a:path w="4629150" h="5153025">
                  <a:moveTo>
                    <a:pt x="1827241" y="1806246"/>
                  </a:moveTo>
                  <a:lnTo>
                    <a:pt x="1213868" y="1806246"/>
                  </a:lnTo>
                  <a:lnTo>
                    <a:pt x="1206466" y="1805918"/>
                  </a:lnTo>
                  <a:lnTo>
                    <a:pt x="1199174" y="1804944"/>
                  </a:lnTo>
                  <a:lnTo>
                    <a:pt x="1192011" y="1803341"/>
                  </a:lnTo>
                  <a:lnTo>
                    <a:pt x="1184993" y="1801123"/>
                  </a:lnTo>
                  <a:lnTo>
                    <a:pt x="1165132" y="1790002"/>
                  </a:lnTo>
                  <a:lnTo>
                    <a:pt x="1607289" y="768678"/>
                  </a:lnTo>
                  <a:lnTo>
                    <a:pt x="1632684" y="718901"/>
                  </a:lnTo>
                  <a:lnTo>
                    <a:pt x="1662748" y="675419"/>
                  </a:lnTo>
                  <a:lnTo>
                    <a:pt x="1696920" y="638729"/>
                  </a:lnTo>
                  <a:lnTo>
                    <a:pt x="1734640" y="609326"/>
                  </a:lnTo>
                  <a:lnTo>
                    <a:pt x="1775347" y="587710"/>
                  </a:lnTo>
                  <a:lnTo>
                    <a:pt x="1818482" y="574375"/>
                  </a:lnTo>
                  <a:lnTo>
                    <a:pt x="1863485" y="569820"/>
                  </a:lnTo>
                  <a:lnTo>
                    <a:pt x="2093443" y="569820"/>
                  </a:lnTo>
                  <a:lnTo>
                    <a:pt x="2228651" y="880785"/>
                  </a:lnTo>
                  <a:lnTo>
                    <a:pt x="2239828" y="915765"/>
                  </a:lnTo>
                  <a:lnTo>
                    <a:pt x="2243554" y="953059"/>
                  </a:lnTo>
                  <a:lnTo>
                    <a:pt x="2239828" y="990353"/>
                  </a:lnTo>
                  <a:lnTo>
                    <a:pt x="1921301" y="1732210"/>
                  </a:lnTo>
                  <a:lnTo>
                    <a:pt x="1881724" y="1786415"/>
                  </a:lnTo>
                  <a:lnTo>
                    <a:pt x="1827241" y="1806246"/>
                  </a:lnTo>
                  <a:close/>
                </a:path>
                <a:path w="4629150" h="5153025">
                  <a:moveTo>
                    <a:pt x="4262215" y="1915448"/>
                  </a:moveTo>
                  <a:lnTo>
                    <a:pt x="1866497" y="1915448"/>
                  </a:lnTo>
                  <a:lnTo>
                    <a:pt x="1898415" y="1909669"/>
                  </a:lnTo>
                  <a:lnTo>
                    <a:pt x="1927951" y="1893079"/>
                  </a:lnTo>
                  <a:lnTo>
                    <a:pt x="1972594" y="1831936"/>
                  </a:lnTo>
                  <a:lnTo>
                    <a:pt x="2319282" y="1034584"/>
                  </a:lnTo>
                  <a:lnTo>
                    <a:pt x="2331890" y="995127"/>
                  </a:lnTo>
                  <a:lnTo>
                    <a:pt x="2336093" y="953059"/>
                  </a:lnTo>
                  <a:lnTo>
                    <a:pt x="2331890" y="910992"/>
                  </a:lnTo>
                  <a:lnTo>
                    <a:pt x="2319282" y="871534"/>
                  </a:lnTo>
                  <a:lnTo>
                    <a:pt x="2188097" y="569820"/>
                  </a:lnTo>
                  <a:lnTo>
                    <a:pt x="3510964" y="569820"/>
                  </a:lnTo>
                  <a:lnTo>
                    <a:pt x="3554835" y="574375"/>
                  </a:lnTo>
                  <a:lnTo>
                    <a:pt x="3597462" y="587710"/>
                  </a:lnTo>
                  <a:lnTo>
                    <a:pt x="3638034" y="609326"/>
                  </a:lnTo>
                  <a:lnTo>
                    <a:pt x="3675744" y="638729"/>
                  </a:lnTo>
                  <a:lnTo>
                    <a:pt x="3709781" y="675419"/>
                  </a:lnTo>
                  <a:lnTo>
                    <a:pt x="3739336" y="718901"/>
                  </a:lnTo>
                  <a:lnTo>
                    <a:pt x="3763601" y="768678"/>
                  </a:lnTo>
                  <a:lnTo>
                    <a:pt x="4262215" y="1915448"/>
                  </a:lnTo>
                  <a:close/>
                </a:path>
                <a:path w="4629150" h="5153025">
                  <a:moveTo>
                    <a:pt x="672329" y="4238184"/>
                  </a:moveTo>
                  <a:lnTo>
                    <a:pt x="271829" y="4238184"/>
                  </a:lnTo>
                  <a:lnTo>
                    <a:pt x="252974" y="4234839"/>
                  </a:lnTo>
                  <a:lnTo>
                    <a:pt x="221104" y="4210020"/>
                  </a:lnTo>
                  <a:lnTo>
                    <a:pt x="9731" y="3728290"/>
                  </a:lnTo>
                  <a:lnTo>
                    <a:pt x="0" y="3681098"/>
                  </a:lnTo>
                  <a:lnTo>
                    <a:pt x="2432" y="3656747"/>
                  </a:lnTo>
                  <a:lnTo>
                    <a:pt x="209548" y="3172355"/>
                  </a:lnTo>
                  <a:lnTo>
                    <a:pt x="235823" y="3136962"/>
                  </a:lnTo>
                  <a:lnTo>
                    <a:pt x="271829" y="3124013"/>
                  </a:lnTo>
                  <a:lnTo>
                    <a:pt x="672329" y="3124013"/>
                  </a:lnTo>
                  <a:lnTo>
                    <a:pt x="722568" y="3152177"/>
                  </a:lnTo>
                  <a:lnTo>
                    <a:pt x="934427" y="3633907"/>
                  </a:lnTo>
                  <a:lnTo>
                    <a:pt x="944159" y="3681098"/>
                  </a:lnTo>
                  <a:lnTo>
                    <a:pt x="941726" y="3705449"/>
                  </a:lnTo>
                  <a:lnTo>
                    <a:pt x="733746" y="4189841"/>
                  </a:lnTo>
                  <a:lnTo>
                    <a:pt x="707903" y="4225235"/>
                  </a:lnTo>
                  <a:lnTo>
                    <a:pt x="672329" y="4238184"/>
                  </a:lnTo>
                  <a:close/>
                </a:path>
              </a:pathLst>
            </a:custGeom>
            <a:solidFill>
              <a:srgbClr val="7F7F7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8475" y="1714500"/>
              <a:ext cx="3200400" cy="341947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1665" y="226977"/>
            <a:ext cx="8053070" cy="691995"/>
          </a:xfrm>
          <a:prstGeom prst="rect">
            <a:avLst/>
          </a:prstGeom>
        </p:spPr>
        <p:txBody>
          <a:bodyPr vert="horz" wrap="square" lIns="0" tIns="757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u="sng" dirty="0">
                <a:solidFill>
                  <a:srgbClr val="1F497D"/>
                </a:solidFill>
              </a:rPr>
              <a:t>SMART</a:t>
            </a:r>
            <a:r>
              <a:rPr sz="4000" u="sng" spc="190" dirty="0">
                <a:solidFill>
                  <a:srgbClr val="1F497D"/>
                </a:solidFill>
              </a:rPr>
              <a:t> </a:t>
            </a:r>
            <a:r>
              <a:rPr sz="4000" u="sng" dirty="0">
                <a:solidFill>
                  <a:srgbClr val="1F497D"/>
                </a:solidFill>
              </a:rPr>
              <a:t>INDIA</a:t>
            </a:r>
            <a:r>
              <a:rPr sz="4000" u="sng" spc="180" dirty="0">
                <a:solidFill>
                  <a:srgbClr val="1F497D"/>
                </a:solidFill>
              </a:rPr>
              <a:t> </a:t>
            </a:r>
            <a:r>
              <a:rPr sz="4000" u="sng" dirty="0">
                <a:solidFill>
                  <a:srgbClr val="1F497D"/>
                </a:solidFill>
              </a:rPr>
              <a:t>HACKATHON</a:t>
            </a:r>
            <a:r>
              <a:rPr sz="4000" u="sng" spc="60" dirty="0">
                <a:solidFill>
                  <a:srgbClr val="1F497D"/>
                </a:solidFill>
              </a:rPr>
              <a:t> </a:t>
            </a:r>
            <a:r>
              <a:rPr sz="4000" u="sng" spc="-20" dirty="0">
                <a:solidFill>
                  <a:srgbClr val="1F497D"/>
                </a:solidFill>
              </a:rPr>
              <a:t>2026</a:t>
            </a:r>
            <a:endParaRPr sz="4000" u="sng" dirty="0"/>
          </a:p>
        </p:txBody>
      </p:sp>
      <p:sp>
        <p:nvSpPr>
          <p:cNvPr id="6" name="object 6"/>
          <p:cNvSpPr txBox="1"/>
          <p:nvPr/>
        </p:nvSpPr>
        <p:spPr>
          <a:xfrm>
            <a:off x="510032" y="548100"/>
            <a:ext cx="5893435" cy="5364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Roboto"/>
              <a:cs typeface="Roboto"/>
            </a:endParaRPr>
          </a:p>
          <a:p>
            <a:pPr marL="12700" marR="2438400">
              <a:lnSpc>
                <a:spcPct val="197900"/>
              </a:lnSpc>
              <a:spcBef>
                <a:spcPts val="3670"/>
              </a:spcBef>
            </a:pPr>
            <a:r>
              <a:rPr sz="2400" b="1" dirty="0">
                <a:latin typeface="Roboto"/>
                <a:cs typeface="Roboto"/>
              </a:rPr>
              <a:t>Problem</a:t>
            </a:r>
            <a:r>
              <a:rPr sz="2400" b="1" spc="-7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Statement</a:t>
            </a:r>
            <a:r>
              <a:rPr sz="2400" b="1" spc="-1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I</a:t>
            </a:r>
            <a:r>
              <a:rPr lang="en-IN" sz="2400" b="1" dirty="0">
                <a:latin typeface="Roboto"/>
                <a:cs typeface="Roboto"/>
              </a:rPr>
              <a:t>D</a:t>
            </a:r>
            <a:r>
              <a:rPr lang="en-IN" sz="2400" b="1" spc="-50" dirty="0">
                <a:latin typeface="Roboto"/>
                <a:cs typeface="Roboto"/>
              </a:rPr>
              <a:t>–</a:t>
            </a:r>
            <a:r>
              <a:rPr lang="en-US" sz="2400" b="1" spc="-50" dirty="0">
                <a:latin typeface="Roboto"/>
                <a:cs typeface="Roboto"/>
              </a:rPr>
              <a:t> </a:t>
            </a:r>
            <a:r>
              <a:rPr sz="2400" b="1" spc="-5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Problem</a:t>
            </a:r>
            <a:r>
              <a:rPr sz="2400" b="1" spc="-12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Statement</a:t>
            </a:r>
            <a:r>
              <a:rPr sz="2400" b="1" spc="-80" dirty="0">
                <a:latin typeface="Roboto"/>
                <a:cs typeface="Roboto"/>
              </a:rPr>
              <a:t> </a:t>
            </a:r>
            <a:r>
              <a:rPr sz="2400" b="1" spc="-30" dirty="0">
                <a:latin typeface="Roboto"/>
                <a:cs typeface="Roboto"/>
              </a:rPr>
              <a:t>Title-</a:t>
            </a:r>
            <a:r>
              <a:rPr sz="2400" b="1" dirty="0">
                <a:latin typeface="Roboto"/>
                <a:cs typeface="Roboto"/>
              </a:rPr>
              <a:t>Theme-</a:t>
            </a:r>
            <a:endParaRPr sz="2400" dirty="0">
              <a:latin typeface="Roboto"/>
              <a:cs typeface="Roboto"/>
            </a:endParaRPr>
          </a:p>
          <a:p>
            <a:pPr marL="12700" marR="1311275">
              <a:lnSpc>
                <a:spcPct val="197900"/>
              </a:lnSpc>
            </a:pPr>
            <a:r>
              <a:rPr sz="2400" b="1" dirty="0">
                <a:latin typeface="Roboto"/>
                <a:cs typeface="Roboto"/>
              </a:rPr>
              <a:t>PS</a:t>
            </a:r>
            <a:r>
              <a:rPr sz="2400" b="1" spc="-85" dirty="0">
                <a:latin typeface="Roboto"/>
                <a:cs typeface="Roboto"/>
              </a:rPr>
              <a:t> </a:t>
            </a:r>
            <a:r>
              <a:rPr sz="2400" b="1" spc="-10" dirty="0">
                <a:latin typeface="Roboto"/>
                <a:cs typeface="Roboto"/>
              </a:rPr>
              <a:t>Category-</a:t>
            </a:r>
            <a:r>
              <a:rPr lang="en-US" sz="2400" b="1" spc="-10" dirty="0">
                <a:latin typeface="Roboto"/>
                <a:cs typeface="Roboto"/>
              </a:rPr>
              <a:t>  Hardware</a:t>
            </a:r>
            <a:r>
              <a:rPr sz="2400" b="1" spc="95" dirty="0">
                <a:latin typeface="Roboto"/>
                <a:cs typeface="Roboto"/>
              </a:rPr>
              <a:t> </a:t>
            </a:r>
            <a:r>
              <a:rPr sz="2400" b="1" spc="-10" dirty="0">
                <a:latin typeface="Roboto"/>
                <a:cs typeface="Roboto"/>
              </a:rPr>
              <a:t> </a:t>
            </a:r>
            <a:r>
              <a:rPr lang="en-US" sz="2400" b="1" spc="-10" dirty="0">
                <a:latin typeface="Roboto"/>
                <a:cs typeface="Roboto"/>
              </a:rPr>
              <a:t>      </a:t>
            </a:r>
            <a:r>
              <a:rPr sz="2400" b="1" dirty="0">
                <a:latin typeface="Roboto"/>
                <a:cs typeface="Roboto"/>
              </a:rPr>
              <a:t>Team</a:t>
            </a:r>
            <a:r>
              <a:rPr sz="2400" b="1" spc="10" dirty="0">
                <a:latin typeface="Roboto"/>
                <a:cs typeface="Roboto"/>
              </a:rPr>
              <a:t> </a:t>
            </a:r>
            <a:r>
              <a:rPr sz="2400" b="1" spc="-25" dirty="0">
                <a:latin typeface="Roboto"/>
                <a:cs typeface="Roboto"/>
              </a:rPr>
              <a:t>ID</a:t>
            </a:r>
            <a:r>
              <a:rPr lang="en-US" sz="2400" b="1" spc="-25" dirty="0">
                <a:latin typeface="Roboto"/>
                <a:cs typeface="Roboto"/>
              </a:rPr>
              <a:t>- 130117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400" b="1" dirty="0">
                <a:latin typeface="Roboto"/>
                <a:cs typeface="Roboto"/>
              </a:rPr>
              <a:t>Team</a:t>
            </a:r>
            <a:r>
              <a:rPr sz="2400" b="1" spc="-2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Name</a:t>
            </a:r>
            <a:r>
              <a:rPr sz="2400" b="1" spc="3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(Registered</a:t>
            </a:r>
            <a:r>
              <a:rPr sz="2400" b="1" spc="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on</a:t>
            </a:r>
            <a:r>
              <a:rPr sz="2400" b="1" spc="25" dirty="0">
                <a:latin typeface="Roboto"/>
                <a:cs typeface="Roboto"/>
              </a:rPr>
              <a:t> </a:t>
            </a:r>
            <a:r>
              <a:rPr sz="2400" b="1" spc="-10" dirty="0">
                <a:latin typeface="Roboto"/>
                <a:cs typeface="Roboto"/>
              </a:rPr>
              <a:t>portal)</a:t>
            </a:r>
            <a:r>
              <a:rPr lang="en-US" sz="2400" b="1" spc="-10" dirty="0">
                <a:latin typeface="Roboto"/>
                <a:cs typeface="Roboto"/>
              </a:rPr>
              <a:t>:</a:t>
            </a:r>
            <a:endParaRPr sz="240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2650" y="0"/>
            <a:ext cx="2247900" cy="1057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84EADE-635D-A27C-4988-3A44F0078A53}"/>
              </a:ext>
            </a:extLst>
          </p:cNvPr>
          <p:cNvSpPr txBox="1"/>
          <p:nvPr/>
        </p:nvSpPr>
        <p:spPr>
          <a:xfrm>
            <a:off x="4038600" y="2335381"/>
            <a:ext cx="4550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ist"/>
              </a:rPr>
              <a:t>Safe and Efficient Operation of Mine Vehicles in Fog and Low-Visibility Conditions in Open Cast Iron Ore Mines.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62F7D-CAEE-32EF-7284-A2D5560B8D06}"/>
              </a:ext>
            </a:extLst>
          </p:cNvPr>
          <p:cNvSpPr txBox="1"/>
          <p:nvPr/>
        </p:nvSpPr>
        <p:spPr>
          <a:xfrm>
            <a:off x="1663700" y="3172971"/>
            <a:ext cx="298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Smart Automation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3E8F51-73E9-4F85-D9EB-B64413ECFFC3}"/>
              </a:ext>
            </a:extLst>
          </p:cNvPr>
          <p:cNvSpPr txBox="1"/>
          <p:nvPr/>
        </p:nvSpPr>
        <p:spPr>
          <a:xfrm>
            <a:off x="3790738" y="170684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SIH26007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D36E6-32BD-27B9-CC17-92FFD336EE8B}"/>
              </a:ext>
            </a:extLst>
          </p:cNvPr>
          <p:cNvSpPr txBox="1"/>
          <p:nvPr/>
        </p:nvSpPr>
        <p:spPr>
          <a:xfrm>
            <a:off x="5422964" y="543411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The Sentinel Crew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841625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35" dirty="0"/>
              <a:t> </a:t>
            </a:r>
            <a:r>
              <a:rPr spc="-20" dirty="0"/>
              <a:t>TITLE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108096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200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Roboto"/>
                <a:cs typeface="Roboto"/>
              </a:rPr>
              <a:t>Proposed</a:t>
            </a:r>
            <a:r>
              <a:rPr sz="3200" b="1" u="heavy" spc="-95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Roboto"/>
                <a:cs typeface="Roboto"/>
              </a:rPr>
              <a:t>Solution</a:t>
            </a:r>
            <a:r>
              <a:rPr lang="en-US" sz="3200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Roboto"/>
                <a:cs typeface="Roboto"/>
              </a:rPr>
              <a:t>:</a:t>
            </a:r>
            <a:endParaRPr sz="3200" dirty="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125" y="280205"/>
            <a:ext cx="1428750" cy="800100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474" y="377897"/>
            <a:ext cx="848996" cy="5115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lang="en-US" sz="1100" spc="-20" dirty="0">
                <a:latin typeface="Roboto"/>
                <a:cs typeface="Roboto"/>
              </a:rPr>
              <a:t>     </a:t>
            </a:r>
            <a:r>
              <a:rPr lang="en-US" sz="1000" b="1" spc="-20" dirty="0">
                <a:solidFill>
                  <a:srgbClr val="C00000"/>
                </a:solidFill>
                <a:latin typeface="Roboto"/>
                <a:cs typeface="Roboto"/>
              </a:rPr>
              <a:t>THE</a:t>
            </a:r>
          </a:p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lang="en-US" sz="1000" b="1" spc="-20" dirty="0">
                <a:solidFill>
                  <a:srgbClr val="C00000"/>
                </a:solidFill>
                <a:latin typeface="Roboto"/>
                <a:cs typeface="Roboto"/>
              </a:rPr>
              <a:t>SENTINAL</a:t>
            </a:r>
          </a:p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lang="en-US" sz="1000" b="1" spc="-20" dirty="0">
                <a:solidFill>
                  <a:srgbClr val="C00000"/>
                </a:solidFill>
                <a:latin typeface="Roboto"/>
                <a:cs typeface="Roboto"/>
              </a:rPr>
              <a:t>    CREW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0" y="126910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2</a:t>
            </a:fld>
            <a:endParaRPr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BAC23-0ED6-201E-D912-810B5FF564EA}"/>
              </a:ext>
            </a:extLst>
          </p:cNvPr>
          <p:cNvSpPr txBox="1"/>
          <p:nvPr/>
        </p:nvSpPr>
        <p:spPr>
          <a:xfrm>
            <a:off x="221297" y="1800667"/>
            <a:ext cx="11970703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HAUL SENTINEL uses ultrasonic sensors and ESP32 to detect obstacles and assess risk in low visibility.</a:t>
            </a:r>
          </a:p>
          <a:p>
            <a:r>
              <a:rPr lang="en-IN" b="1" dirty="0"/>
              <a:t>It automatically reduces vehicle speed and stops the vehicle when danger is critical.</a:t>
            </a:r>
          </a:p>
          <a:p>
            <a:r>
              <a:rPr lang="en-IN" b="1" dirty="0"/>
              <a:t>The system also provides instant alerts to the driver and control room.</a:t>
            </a:r>
          </a:p>
          <a:p>
            <a:endParaRPr lang="en-IN" b="1" dirty="0"/>
          </a:p>
          <a:p>
            <a:r>
              <a:rPr lang="en-IN" sz="2800" b="1" u="sng" dirty="0">
                <a:solidFill>
                  <a:schemeClr val="tx2"/>
                </a:solidFill>
              </a:rPr>
              <a:t>How to address the Problem: </a:t>
            </a:r>
          </a:p>
          <a:p>
            <a:r>
              <a:rPr lang="en-US" b="1" dirty="0">
                <a:solidFill>
                  <a:schemeClr val="tx1"/>
                </a:solidFill>
              </a:rPr>
              <a:t>It helps prevent collisions when fog, dust, or rain limits the driver's visibility.</a:t>
            </a:r>
          </a:p>
          <a:p>
            <a:r>
              <a:rPr lang="en-US" b="1" dirty="0">
                <a:solidFill>
                  <a:schemeClr val="tx1"/>
                </a:solidFill>
              </a:rPr>
              <a:t>Automatic speed control reduces reaction time and keeps the vehicle at a safer speed.</a:t>
            </a:r>
          </a:p>
          <a:p>
            <a:r>
              <a:rPr lang="en-US" b="1" dirty="0">
                <a:solidFill>
                  <a:schemeClr val="tx1"/>
                </a:solidFill>
              </a:rPr>
              <a:t>This provides additional protection for drivers and mining operations.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Innovation and Uniqueness of the Problem:</a:t>
            </a:r>
          </a:p>
          <a:p>
            <a:r>
              <a:rPr lang="en-US" b="1" dirty="0">
                <a:solidFill>
                  <a:schemeClr val="tx1"/>
                </a:solidFill>
              </a:rPr>
              <a:t>Unlike systems that only provide warnings, HAUL SENTINEL takes preventive action by controlling vehicle speed.</a:t>
            </a:r>
          </a:p>
          <a:p>
            <a:r>
              <a:rPr lang="en-US" b="1" dirty="0">
                <a:solidFill>
                  <a:schemeClr val="tx1"/>
                </a:solidFill>
              </a:rPr>
              <a:t>It combines obstacle detection, risk assessment, speed control, and alerts in one system.</a:t>
            </a:r>
          </a:p>
          <a:p>
            <a:r>
              <a:rPr lang="en-US" b="1" dirty="0">
                <a:solidFill>
                  <a:schemeClr val="tx1"/>
                </a:solidFill>
              </a:rPr>
              <a:t>The solution is designed specifically for challenging mining and low-visibility conditions. 🚛🛡️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37C626-8B59-CEA6-57E6-2F849B84E5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7" y="93833"/>
            <a:ext cx="1759265" cy="11728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0768CE7-2F55-0123-BA04-B8468DEE9A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89560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30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23850" y="862320"/>
            <a:ext cx="10809605" cy="5288487"/>
          </a:xfrm>
          <a:prstGeom prst="rect">
            <a:avLst/>
          </a:prstGeom>
        </p:spPr>
        <p:txBody>
          <a:bodyPr vert="horz" wrap="square" lIns="0" tIns="512941" rIns="0" bIns="0" rtlCol="0">
            <a:spAutoFit/>
          </a:bodyPr>
          <a:lstStyle/>
          <a:p>
            <a:r>
              <a:rPr lang="en-IN" b="1" u="sng" dirty="0">
                <a:solidFill>
                  <a:schemeClr val="tx2"/>
                </a:solidFill>
              </a:rPr>
              <a:t>Technologies Used:</a:t>
            </a:r>
          </a:p>
          <a:p>
            <a:endParaRPr lang="en-IN" b="1" dirty="0">
              <a:solidFill>
                <a:schemeClr val="tx2"/>
              </a:solidFill>
            </a:endParaRPr>
          </a:p>
          <a:p>
            <a:pPr lvl="0"/>
            <a:r>
              <a:rPr lang="en-IN" sz="2000" b="1" dirty="0">
                <a:solidFill>
                  <a:schemeClr val="accent1"/>
                </a:solidFill>
              </a:rPr>
              <a:t>Programming:</a:t>
            </a:r>
            <a:r>
              <a:rPr lang="en-IN" sz="1800" b="1" dirty="0"/>
              <a:t> C/C++ </a:t>
            </a:r>
            <a:r>
              <a:rPr lang="en-IN" sz="1800" b="1"/>
              <a:t>using Arduino IDE.</a:t>
            </a:r>
            <a:endParaRPr lang="en-IN" sz="1800" b="1" dirty="0"/>
          </a:p>
          <a:p>
            <a:pPr lvl="0"/>
            <a:r>
              <a:rPr lang="en-IN" sz="2000" b="1" dirty="0">
                <a:solidFill>
                  <a:schemeClr val="accent1"/>
                </a:solidFill>
              </a:rPr>
              <a:t>Hardware:</a:t>
            </a:r>
            <a:r>
              <a:rPr lang="en-IN" sz="1800" b="1" dirty="0"/>
              <a:t> ESP32, ultrasonic sensors, motor driver, DC motors, buzzer and LEDs. </a:t>
            </a:r>
          </a:p>
          <a:p>
            <a:pPr lvl="0"/>
            <a:r>
              <a:rPr lang="en-IN" sz="2000" b="1" dirty="0">
                <a:solidFill>
                  <a:schemeClr val="accent1"/>
                </a:solidFill>
              </a:rPr>
              <a:t>Communication:</a:t>
            </a:r>
            <a:r>
              <a:rPr lang="en-IN" sz="1800" b="1" dirty="0"/>
              <a:t> Wi-Fi/Bluetooth for monitoring and alerts. </a:t>
            </a:r>
          </a:p>
          <a:p>
            <a:pPr lvl="0"/>
            <a:r>
              <a:rPr lang="en-IN" sz="1800" b="1" dirty="0"/>
              <a:t>Sensors provide real-time data, which the ESP32 processes for speed control.</a:t>
            </a:r>
          </a:p>
          <a:p>
            <a:pPr lvl="0"/>
            <a:endParaRPr lang="en-IN" sz="1800" dirty="0"/>
          </a:p>
          <a:p>
            <a:r>
              <a:rPr lang="en-IN" b="1" u="sng" dirty="0">
                <a:solidFill>
                  <a:schemeClr val="tx2"/>
                </a:solidFill>
              </a:rPr>
              <a:t>Methodology &amp; Process for Implementation:</a:t>
            </a:r>
          </a:p>
          <a:p>
            <a:endParaRPr lang="en-IN" b="1" dirty="0">
              <a:solidFill>
                <a:schemeClr val="tx2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Sensors → ESP32 → Distance &amp; Risk Analysis → Speed Control → Alert → Monitoring</a:t>
            </a:r>
          </a:p>
          <a:p>
            <a:pPr lvl="0"/>
            <a:r>
              <a:rPr lang="en-IN" sz="1800" b="1" dirty="0"/>
              <a:t>Sensors continuously detect obstacles and measure distance. </a:t>
            </a:r>
          </a:p>
          <a:p>
            <a:pPr lvl="0"/>
            <a:r>
              <a:rPr lang="en-IN" sz="1800" b="1" dirty="0"/>
              <a:t>ESP32 </a:t>
            </a:r>
            <a:r>
              <a:rPr lang="en-US" sz="1800" b="1" dirty="0"/>
              <a:t>analysis</a:t>
            </a:r>
            <a:r>
              <a:rPr lang="en-IN" sz="1800" b="1" dirty="0"/>
              <a:t> the risk and automatically adjusts vehicle speed. </a:t>
            </a:r>
          </a:p>
          <a:p>
            <a:pPr lvl="0"/>
            <a:r>
              <a:rPr lang="en-IN" sz="1800" b="1" dirty="0"/>
              <a:t>A working prototype and flowchart demonstrate the complete process in real time. 🚛⚙️</a:t>
            </a:r>
          </a:p>
          <a:p>
            <a:pPr marL="622300" marR="5080">
              <a:lnSpc>
                <a:spcPts val="3300"/>
              </a:lnSpc>
              <a:spcBef>
                <a:spcPts val="260"/>
              </a:spcBef>
            </a:pP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323850" y="247650"/>
            <a:ext cx="1247775" cy="800100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5950" y="208905"/>
            <a:ext cx="64452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sz="1800" spc="-20" dirty="0">
                <a:latin typeface="Roboto"/>
                <a:cs typeface="Roboto"/>
              </a:rPr>
              <a:t>Your Team Name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z="1800" spc="-50" dirty="0"/>
              <a:t>3</a:t>
            </a:fld>
            <a:endParaRPr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E9B2CC-5866-6EDE-2064-1AF8ED373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9" y="97135"/>
            <a:ext cx="1759265" cy="1172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7714E4-EC50-E5A8-8A31-C2DFC48E53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498" y="1804838"/>
            <a:ext cx="3054350" cy="2161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48907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7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323850" y="247650"/>
            <a:ext cx="1247775" cy="800100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5950" y="208905"/>
            <a:ext cx="64452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sz="1800" spc="-20" dirty="0">
                <a:latin typeface="Roboto"/>
                <a:cs typeface="Roboto"/>
              </a:rPr>
              <a:t>Your Team Name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AC686F-9469-8030-B77C-B0E104E5AC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9" y="97135"/>
            <a:ext cx="1759265" cy="1172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69CF9F-4D1C-C78C-A648-88215E7F4F1E}"/>
              </a:ext>
            </a:extLst>
          </p:cNvPr>
          <p:cNvSpPr txBox="1"/>
          <p:nvPr/>
        </p:nvSpPr>
        <p:spPr>
          <a:xfrm>
            <a:off x="323850" y="1318408"/>
            <a:ext cx="11610871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tx2"/>
                </a:solidFill>
              </a:rPr>
              <a:t>Feasibility of the Idea:</a:t>
            </a:r>
          </a:p>
          <a:p>
            <a:pPr lvl="0"/>
            <a:r>
              <a:rPr lang="en-IN" b="1" dirty="0"/>
              <a:t>The solution uses low-cost, easily available components like ESP32 and ultrasonic sensors. </a:t>
            </a:r>
          </a:p>
          <a:p>
            <a:pPr lvl="0"/>
            <a:r>
              <a:rPr lang="en-IN" b="1" dirty="0"/>
              <a:t>It is easy to build, test, and scale for mining vehicles. </a:t>
            </a:r>
          </a:p>
          <a:p>
            <a:pPr lvl="0"/>
            <a:r>
              <a:rPr lang="en-IN" b="1" dirty="0"/>
              <a:t>The prototype can demonstrate real-time obstacle detection and automatic speed control.</a:t>
            </a:r>
          </a:p>
          <a:p>
            <a:pPr lvl="0"/>
            <a:endParaRPr lang="en-IN" b="1" dirty="0"/>
          </a:p>
          <a:p>
            <a:r>
              <a:rPr lang="en-IN" sz="2400" b="1" u="sng" dirty="0">
                <a:solidFill>
                  <a:schemeClr val="tx2"/>
                </a:solidFill>
              </a:rPr>
              <a:t>Potential Challenges &amp; Risks:</a:t>
            </a:r>
          </a:p>
          <a:p>
            <a:pPr lvl="0"/>
            <a:r>
              <a:rPr lang="en-IN" b="1" dirty="0"/>
              <a:t>Fog, dust, rain and uneven terrain may affect sensor performance. </a:t>
            </a:r>
          </a:p>
          <a:p>
            <a:pPr lvl="0"/>
            <a:r>
              <a:rPr lang="en-IN" b="1" dirty="0"/>
              <a:t>Sensor readings may sometimes be inaccurate or detect false obstacles. </a:t>
            </a:r>
          </a:p>
          <a:p>
            <a:pPr lvl="0"/>
            <a:r>
              <a:rPr lang="en-IN" b="1" dirty="0"/>
              <a:t>Real mining vehicles require stronger industrial-grade hardware and safety testing.</a:t>
            </a:r>
          </a:p>
          <a:p>
            <a:pPr lvl="0"/>
            <a:endParaRPr lang="en-IN" b="1" dirty="0"/>
          </a:p>
          <a:p>
            <a:r>
              <a:rPr lang="en-IN" sz="2400" b="1" u="sng" dirty="0">
                <a:solidFill>
                  <a:schemeClr val="tx2"/>
                </a:solidFill>
              </a:rPr>
              <a:t>Strategies to Overcome Challenges:</a:t>
            </a:r>
          </a:p>
          <a:p>
            <a:pPr lvl="0"/>
            <a:r>
              <a:rPr lang="en-IN" b="1" dirty="0"/>
              <a:t>Use multiple sensors and combine their readings for better accuracy. </a:t>
            </a:r>
          </a:p>
          <a:p>
            <a:pPr lvl="0"/>
            <a:r>
              <a:rPr lang="en-IN" b="1" dirty="0"/>
              <a:t>Apply filtering and safety thresholds to reduce false detections. </a:t>
            </a:r>
          </a:p>
          <a:p>
            <a:pPr lvl="0"/>
            <a:r>
              <a:rPr lang="en-IN" b="1" dirty="0"/>
              <a:t>For the Prototype the ultrasonic sensors have been used but in the real world problem the radars will be</a:t>
            </a:r>
          </a:p>
          <a:p>
            <a:pPr lvl="0"/>
            <a:r>
              <a:rPr lang="en-IN" b="1" dirty="0"/>
              <a:t>placed and they will act </a:t>
            </a:r>
            <a:r>
              <a:rPr lang="en-US" b="1" dirty="0"/>
              <a:t>accordingly.</a:t>
            </a:r>
            <a:endParaRPr lang="en-IN" b="1" dirty="0"/>
          </a:p>
          <a:p>
            <a:pPr lvl="0"/>
            <a:r>
              <a:rPr lang="en-IN" b="1" dirty="0"/>
              <a:t>Perform extensive testing and upgrade to rugged industrial sensors for real-world deployment. </a:t>
            </a:r>
            <a:r>
              <a:rPr lang="en-IN" dirty="0"/>
              <a:t>🛡️🚛</a:t>
            </a:r>
          </a:p>
          <a:p>
            <a:pPr lvl="0"/>
            <a:endParaRPr lang="en-IN" b="1" dirty="0"/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12CE6A-B09C-CECD-D55B-70033FC91D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2973556"/>
            <a:ext cx="2608502" cy="1552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4" name="object 4"/>
          <p:cNvSpPr/>
          <p:nvPr/>
        </p:nvSpPr>
        <p:spPr>
          <a:xfrm>
            <a:off x="323850" y="247650"/>
            <a:ext cx="1247775" cy="800100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5950" y="208905"/>
            <a:ext cx="64452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sz="1800" spc="-20" dirty="0">
                <a:latin typeface="Roboto"/>
                <a:cs typeface="Roboto"/>
              </a:rPr>
              <a:t>Your Team Name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EA0AD1-C69D-FCAC-5ED3-7F85940EE8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9" y="97135"/>
            <a:ext cx="1759265" cy="1172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853D4A-F78F-4F82-357E-E54765D9D651}"/>
              </a:ext>
            </a:extLst>
          </p:cNvPr>
          <p:cNvSpPr txBox="1"/>
          <p:nvPr/>
        </p:nvSpPr>
        <p:spPr>
          <a:xfrm>
            <a:off x="1571625" y="106107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tx2"/>
                </a:solidFill>
              </a:rPr>
              <a:t>Potential Impact on Target Audience:</a:t>
            </a:r>
          </a:p>
          <a:p>
            <a:pPr lvl="0"/>
            <a:r>
              <a:rPr lang="en-IN" sz="2400" b="1" dirty="0"/>
              <a:t>.</a:t>
            </a:r>
            <a:r>
              <a:rPr lang="en-IN" b="1" dirty="0"/>
              <a:t> Improves safety of drivers and mining workers in low-visibility conditions. </a:t>
            </a:r>
          </a:p>
          <a:p>
            <a:pPr lvl="0"/>
            <a:r>
              <a:rPr lang="en-IN" sz="2400" b="1" dirty="0"/>
              <a:t>.</a:t>
            </a:r>
            <a:r>
              <a:rPr lang="en-IN" b="1" dirty="0"/>
              <a:t> Helps mining companies reduce accidents and         vehicle damage. </a:t>
            </a:r>
          </a:p>
          <a:p>
            <a:pPr lvl="0"/>
            <a:r>
              <a:rPr lang="en-IN" sz="2400" b="1" dirty="0"/>
              <a:t>.</a:t>
            </a:r>
            <a:r>
              <a:rPr lang="en-IN" b="1" dirty="0"/>
              <a:t> Enables better real-time monitoring and safer operations. </a:t>
            </a:r>
          </a:p>
          <a:p>
            <a:pPr lvl="0"/>
            <a:r>
              <a:rPr lang="en-IN" sz="2400" b="1" dirty="0"/>
              <a:t>.</a:t>
            </a:r>
            <a:r>
              <a:rPr lang="en-IN" b="1" dirty="0"/>
              <a:t> Supports mining companies in creating a safer and more efficient workplace.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400" b="1" u="sng" dirty="0">
                <a:solidFill>
                  <a:schemeClr val="tx2"/>
                </a:solidFill>
              </a:rPr>
              <a:t>Benefits of the Solution:</a:t>
            </a:r>
          </a:p>
          <a:p>
            <a:pPr lvl="0"/>
            <a:r>
              <a:rPr lang="en-IN" b="1" dirty="0"/>
              <a:t>Social: Protects lives and improves worker safety. 👷 </a:t>
            </a:r>
          </a:p>
          <a:p>
            <a:pPr lvl="0"/>
            <a:r>
              <a:rPr lang="en-IN" b="1" dirty="0"/>
              <a:t>Economic: Reduces accident-related losses, vehicle damage and downtime. </a:t>
            </a:r>
          </a:p>
          <a:p>
            <a:pPr lvl="0"/>
            <a:r>
              <a:rPr lang="en-IN" b="1" dirty="0"/>
              <a:t>Environmental: Helps reduce unnecessary fuel consumption through intelligent speed control. 🌱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3B4288-F0A8-6E20-A70F-2A07858F35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636" y="2299413"/>
            <a:ext cx="4137025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432904" y="749599"/>
            <a:ext cx="7672070" cy="6110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50950">
              <a:lnSpc>
                <a:spcPct val="100000"/>
              </a:lnSpc>
              <a:spcBef>
                <a:spcPts val="100"/>
              </a:spcBef>
            </a:pPr>
            <a:r>
              <a:rPr sz="3200" u="sng" dirty="0"/>
              <a:t>RESEARCH</a:t>
            </a:r>
            <a:r>
              <a:rPr sz="3200" u="sng" spc="70" dirty="0"/>
              <a:t>  </a:t>
            </a:r>
            <a:r>
              <a:rPr sz="3200" u="sng" dirty="0"/>
              <a:t>AND</a:t>
            </a:r>
            <a:r>
              <a:rPr sz="3200" u="sng" spc="65" dirty="0"/>
              <a:t> </a:t>
            </a:r>
            <a:r>
              <a:rPr sz="3200" u="sng" spc="-10" dirty="0"/>
              <a:t>REFERENCES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0E828A-8284-B767-4200-BF87ED422D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60475" cy="840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201248-11E8-E4D8-9658-0D9B358376E9}"/>
              </a:ext>
            </a:extLst>
          </p:cNvPr>
          <p:cNvSpPr txBox="1"/>
          <p:nvPr/>
        </p:nvSpPr>
        <p:spPr>
          <a:xfrm>
            <a:off x="902247" y="1198111"/>
            <a:ext cx="91423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lvl="0"/>
            <a:r>
              <a:rPr lang="en-IN" b="1" u="sng" dirty="0">
                <a:solidFill>
                  <a:schemeClr val="tx2"/>
                </a:solidFill>
              </a:rPr>
              <a:t>NIOSH – Proximity Warning Systems:</a:t>
            </a:r>
          </a:p>
          <a:p>
            <a:pPr lvl="0"/>
            <a:r>
              <a:rPr lang="en-IN" sz="1400" b="1" dirty="0"/>
              <a:t>Research on radar, sonar, GPS and other technologies for preventing collisions in surface mines. Field-tested on large mining trucks</a:t>
            </a:r>
            <a:r>
              <a:rPr lang="en-IN" b="1" dirty="0"/>
              <a:t>. </a:t>
            </a:r>
          </a:p>
          <a:p>
            <a:pPr lvl="0"/>
            <a:r>
              <a:rPr lang="en-IN" dirty="0">
                <a:hlinkClick r:id="rId4"/>
              </a:rPr>
              <a:t>https://www.cdc.gov/niosh/docs/mining/works/coversheet202.html?utm_source=chatgpt.com</a:t>
            </a:r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b="1" u="sng" dirty="0">
                <a:solidFill>
                  <a:schemeClr val="tx2"/>
                </a:solidFill>
              </a:rPr>
              <a:t>CSIR-CIMFR, India – Foggy Mine Driving:</a:t>
            </a:r>
            <a:r>
              <a:rPr lang="en-IN" u="sng" dirty="0">
                <a:solidFill>
                  <a:schemeClr val="tx2"/>
                </a:solidFill>
              </a:rPr>
              <a:t> </a:t>
            </a:r>
            <a:r>
              <a:rPr lang="en-IN" sz="1400" b="1" dirty="0"/>
              <a:t>Researchers developed intelligent driving systems specifically for open-cast mines during foggy weather, directly supporting our problem statement.</a:t>
            </a:r>
          </a:p>
          <a:p>
            <a:pPr lvl="0"/>
            <a:r>
              <a:rPr lang="en-IN" dirty="0">
                <a:hlinkClick r:id="rId5"/>
              </a:rPr>
              <a:t>https://www.tandfonline.com/doi/full/10.1080/00224065.2024.2345255?utm_source=chatgpt.com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4C272-B95A-8106-F81A-96926D522487}"/>
              </a:ext>
            </a:extLst>
          </p:cNvPr>
          <p:cNvSpPr txBox="1"/>
          <p:nvPr/>
        </p:nvSpPr>
        <p:spPr>
          <a:xfrm>
            <a:off x="381000" y="4464994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Click Here 👇 To Watch Prototype Videos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B6B4C-138E-83DD-861B-B7A4F24F0601}"/>
              </a:ext>
            </a:extLst>
          </p:cNvPr>
          <p:cNvSpPr txBox="1"/>
          <p:nvPr/>
        </p:nvSpPr>
        <p:spPr>
          <a:xfrm>
            <a:off x="926631" y="4964668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6"/>
              </a:rPr>
              <a:t>Technical Approach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DCC6C-0397-D220-121D-F1C75E61063C}"/>
              </a:ext>
            </a:extLst>
          </p:cNvPr>
          <p:cNvSpPr txBox="1"/>
          <p:nvPr/>
        </p:nvSpPr>
        <p:spPr>
          <a:xfrm>
            <a:off x="630237" y="4933890"/>
            <a:ext cx="512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</a:t>
            </a:r>
            <a:r>
              <a:rPr lang="en-IN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D5A36-58E2-E8DC-B27E-4E87D9726934}"/>
              </a:ext>
            </a:extLst>
          </p:cNvPr>
          <p:cNvSpPr txBox="1"/>
          <p:nvPr/>
        </p:nvSpPr>
        <p:spPr>
          <a:xfrm>
            <a:off x="902247" y="5433536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7"/>
              </a:rPr>
              <a:t>Prototype Demonstration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39563F-3F30-8A30-158A-7DEFBC602432}"/>
              </a:ext>
            </a:extLst>
          </p:cNvPr>
          <p:cNvSpPr txBox="1"/>
          <p:nvPr/>
        </p:nvSpPr>
        <p:spPr>
          <a:xfrm>
            <a:off x="638682" y="5452264"/>
            <a:ext cx="393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698</Words>
  <Application>Microsoft Office PowerPoint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Geist</vt:lpstr>
      <vt:lpstr>Roboto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Sriram Varma</dc:creator>
  <cp:lastModifiedBy>Sashank Labala</cp:lastModifiedBy>
  <cp:revision>5</cp:revision>
  <dcterms:created xsi:type="dcterms:W3CDTF">2026-09-10T03:17:35Z</dcterms:created>
  <dcterms:modified xsi:type="dcterms:W3CDTF">2026-09-22T16:28:53Z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</Properties>
</file>